
<file path=[Content_Types].xml><?xml version="1.0" encoding="utf-8"?>
<Types xmlns="http://schemas.openxmlformats.org/package/2006/content-types">
  <Default Extension="vml" ContentType="application/vnd.openxmlformats-officedocument.vmlDrawing"/>
  <Default Extension="xlsx" ContentType="application/vnd.openxmlformats-officedocument.spreadsheetml.shee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8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custDataLst>
    <p:tags r:id="rId1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2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2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10" d="100"/>
          <a:sy n="110" d="100"/>
        </p:scale>
        <p:origin x="72" y="67"/>
      </p:cViewPr>
      <p:guideLst>
        <p:guide orient="horz" pos="622"/>
        <p:guide orient="horz" pos="852"/>
        <p:guide pos="2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3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tags" Target="../tags/tag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/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/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/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8"/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/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/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pic>
        <p:nvPicPr>
          <p:cNvPr id="8" name="Picture 7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4.xml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9.xml"/><Relationship Id="rId2" Type="http://schemas.openxmlformats.org/officeDocument/2006/relationships/image" Target="../media/image14.emf"/><Relationship Id="rId1" Type="http://schemas.openxmlformats.org/officeDocument/2006/relationships/package" Target="../embeddings/Workbook1.xlsx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1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/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/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/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/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/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/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/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/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/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/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/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5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  <a:endParaRPr lang="en-US" sz="1400" b="1" spc="583" dirty="0">
                <a:solidFill>
                  <a:srgbClr val="FFFFFF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5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Faculty Name</a:t>
            </a:r>
            <a:endParaRPr lang="en-US" sz="1000" dirty="0">
              <a:latin typeface="Arial" panose="020B0604020202020204" pitchFamily="34" charset="0"/>
              <a:ea typeface="Aileron"/>
              <a:cs typeface="Arial" panose="020B0604020202020204" pitchFamily="34" charset="0"/>
              <a:sym typeface="Aileron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537479" y="3722787"/>
            <a:ext cx="1633432" cy="26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40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Dr.Kavitha.M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0" name="Picture 49" descr="A blue circle with a person and a envelope in it&#10;&#10;AI-generated content may be incorrect."/>
          <p:cNvPicPr>
            <a:picLocks noChangeAspect="1"/>
          </p:cNvPicPr>
          <p:nvPr/>
        </p:nvPicPr>
        <p:blipFill>
          <a:blip r:embed="rId3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5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Faculty Email</a:t>
            </a:r>
            <a:endParaRPr lang="en-US" sz="1000" dirty="0">
              <a:latin typeface="Arial" panose="020B0604020202020204" pitchFamily="34" charset="0"/>
              <a:ea typeface="Aileron"/>
              <a:cs typeface="Arial" panose="020B0604020202020204" pitchFamily="34" charset="0"/>
              <a:sym typeface="Aileron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3176086" y="3803810"/>
            <a:ext cx="2272871" cy="26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40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drmandadi.kavith@gmail.com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1" name="Picture 50" descr="A blue circle with a person and a envelope in it&#10;&#10;AI-generated content may be incorrect."/>
          <p:cNvPicPr>
            <a:picLocks noChangeAspect="1"/>
          </p:cNvPicPr>
          <p:nvPr/>
        </p:nvPicPr>
        <p:blipFill>
          <a:blip r:embed="rId3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/>
          <p:cNvGrpSpPr/>
          <p:nvPr/>
        </p:nvGrpSpPr>
        <p:grpSpPr>
          <a:xfrm>
            <a:off x="873159" y="4285006"/>
            <a:ext cx="2272871" cy="435374"/>
            <a:chOff x="2759969" y="4295282"/>
            <a:chExt cx="2272871" cy="435374"/>
          </a:xfrm>
        </p:grpSpPr>
        <p:sp>
          <p:nvSpPr>
            <p:cNvPr id="67" name="TextBox 41"/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5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  <a:endPara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endParaRPr>
            </a:p>
          </p:txBody>
        </p:sp>
        <p:sp>
          <p:nvSpPr>
            <p:cNvPr id="68" name="TextBox 43"/>
            <p:cNvSpPr txBox="1"/>
            <p:nvPr/>
          </p:nvSpPr>
          <p:spPr>
            <a:xfrm>
              <a:off x="2759969" y="4503221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40"/>
                </a:lnSpc>
              </a:pPr>
              <a:r>
                <a:rPr lang="en-GB" sz="1200" b="1" dirty="0" err="1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Umamaheshwari</a:t>
              </a:r>
              <a:r>
                <a:rPr lang="en-GB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 R </a:t>
              </a:r>
              <a:endPara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pic>
        <p:nvPicPr>
          <p:cNvPr id="71" name="Picture 70"/>
          <p:cNvPicPr>
            <a:picLocks noChangeAspect="1"/>
          </p:cNvPicPr>
          <p:nvPr/>
        </p:nvPicPr>
        <p:blipFill>
          <a:blip r:embed="rId4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/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/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</p:spPr>
        <p:txBody>
          <a:bodyPr/>
          <a:lstStyle/>
          <a:p>
            <a:endParaRPr lang="en-IN"/>
          </a:p>
        </p:txBody>
      </p:sp>
      <p:sp>
        <p:nvSpPr>
          <p:cNvPr id="32" name="Shape 8"/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</p:spPr>
        <p:txBody>
          <a:bodyPr/>
          <a:lstStyle/>
          <a:p>
            <a:endParaRPr lang="en-IN"/>
          </a:p>
        </p:txBody>
      </p:sp>
      <p:sp>
        <p:nvSpPr>
          <p:cNvPr id="33" name="Shape 9"/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</p:spPr>
        <p:txBody>
          <a:bodyPr/>
          <a:lstStyle/>
          <a:p>
            <a:endParaRPr lang="en-IN"/>
          </a:p>
        </p:txBody>
      </p:sp>
      <p:sp>
        <p:nvSpPr>
          <p:cNvPr id="39" name="Shape 9"/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</p:spPr>
        <p:txBody>
          <a:bodyPr/>
          <a:lstStyle/>
          <a:p>
            <a:endParaRPr lang="en-IN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7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  <a:endParaRPr lang="en-IN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pic>
        <p:nvPicPr>
          <p:cNvPr id="25" name="Picture 24" descr="A screen shot of a computer&#10;&#10;AI-generated content may be incorrect.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240" y="1082801"/>
            <a:ext cx="5002346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Lato" panose="020F0502020204030203" pitchFamily="34" charset="0"/>
                <a:ea typeface="Open Sans" panose="020B0606030504020204" pitchFamily="34" charset="0"/>
                <a:cs typeface="Arial" panose="020B0604020202020204" pitchFamily="34" charset="0"/>
                <a:sym typeface="+mn-ea"/>
              </a:rPr>
              <a:t> Brief overview of project </a:t>
            </a:r>
            <a:r>
              <a:rPr lang="en-GB" b="1" dirty="0"/>
              <a:t>​:</a:t>
            </a:r>
            <a:r>
              <a:rPr lang="en-GB" dirty="0"/>
              <a:t> To address the  qualitative student feedback at </a:t>
            </a:r>
            <a:r>
              <a:rPr lang="en-US" altLang="en-GB" dirty="0"/>
              <a:t>Rishi ubr womens</a:t>
            </a:r>
            <a:r>
              <a:rPr lang="en-GB" dirty="0"/>
              <a:t> College using AI and Data Analytics.</a:t>
            </a:r>
            <a:endParaRPr lang="en-GB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b="1" dirty="0">
                <a:sym typeface="+mn-ea"/>
              </a:rPr>
              <a:t>Objective</a:t>
            </a:r>
            <a:r>
              <a:rPr lang="en-US" altLang="en-GB" b="1" dirty="0">
                <a:sym typeface="+mn-ea"/>
              </a:rPr>
              <a:t>:</a:t>
            </a:r>
            <a:r>
              <a:rPr lang="en-US" altLang="en-US" dirty="0"/>
              <a:t>Longitudinal tracking across semesters,Faculty-specific personalized improvement,Real-time mid-semester feedback loops .</a:t>
            </a:r>
            <a:endParaRPr lang="en-US" altLang="en-US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  <a:sym typeface="+mn-ea"/>
              </a:rPr>
              <a:t> </a:t>
            </a:r>
            <a:r>
              <a:rPr lang="en-US" b="1" dirty="0">
                <a:latin typeface="Lato" panose="020F0502020204030203" pitchFamily="34" charset="0"/>
                <a:ea typeface="+mn-lt"/>
                <a:cs typeface="Arial" panose="020B0604020202020204" pitchFamily="34" charset="0"/>
                <a:sym typeface="+mn-ea"/>
              </a:rPr>
              <a:t>tools and technologies</a:t>
            </a:r>
            <a:r>
              <a:rPr lang="en-GB" b="1" dirty="0"/>
              <a:t>:</a:t>
            </a:r>
            <a:r>
              <a:rPr lang="en-GB" dirty="0"/>
              <a:t> Microsoft Excel (with Power Query), Power BI, and Microsoft </a:t>
            </a:r>
            <a:r>
              <a:rPr lang="en-GB" dirty="0" err="1"/>
              <a:t>Copilot</a:t>
            </a:r>
            <a:r>
              <a:rPr lang="en-GB" dirty="0"/>
              <a:t>.</a:t>
            </a:r>
            <a:endParaRPr lang="en-GB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dirty="0">
                <a:sym typeface="+mn-ea"/>
              </a:rPr>
              <a:t>​</a:t>
            </a:r>
            <a:r>
              <a:rPr lang="en-GB" b="1" dirty="0">
                <a:sym typeface="+mn-ea"/>
              </a:rPr>
              <a:t>Outcome:</a:t>
            </a:r>
            <a:r>
              <a:rPr lang="en-US" altLang="en-GB" dirty="0">
                <a:sym typeface="+mn-ea"/>
              </a:rPr>
              <a:t>Create An</a:t>
            </a:r>
            <a:r>
              <a:rPr lang="en-GB" dirty="0">
                <a:sym typeface="+mn-ea"/>
              </a:rPr>
              <a:t> interactive dashboard </a:t>
            </a:r>
            <a:endParaRPr lang="en-GB" dirty="0">
              <a:sym typeface="+mn-ea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dirty="0"/>
              <a:t>​</a:t>
            </a:r>
            <a:r>
              <a:rPr lang="en-GB" b="1" dirty="0"/>
              <a:t>Key Highlight:</a:t>
            </a:r>
            <a:r>
              <a:rPr lang="en-GB" dirty="0"/>
              <a:t> Implements PG</a:t>
            </a:r>
            <a:r>
              <a:rPr lang="en-US" altLang="en-GB" dirty="0"/>
              <a:t> &amp;UG</a:t>
            </a:r>
            <a:r>
              <a:rPr lang="en-GB" dirty="0"/>
              <a:t>-specific feedback framework,</a:t>
            </a:r>
            <a:r>
              <a:rPr lang="en-US" altLang="en-GB" dirty="0"/>
              <a:t>for Analysing</a:t>
            </a:r>
            <a:r>
              <a:rPr lang="en-GB" dirty="0"/>
              <a:t> expectations from</a:t>
            </a:r>
            <a:r>
              <a:rPr lang="en-US" altLang="en-GB" dirty="0"/>
              <a:t> Post graduate and </a:t>
            </a:r>
            <a:r>
              <a:rPr lang="en-GB" dirty="0"/>
              <a:t> undergraduate needs.</a:t>
            </a:r>
            <a:endParaRPr lang="en-GB" dirty="0"/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reeform 28"/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5240" y="1082801"/>
            <a:ext cx="4762910" cy="483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1600" b="1" dirty="0"/>
              <a:t>Core Issue:</a:t>
            </a:r>
            <a:r>
              <a:rPr lang="en-US" altLang="en-GB" sz="1600" dirty="0"/>
              <a:t>No</a:t>
            </a:r>
            <a:r>
              <a:rPr lang="en-GB" sz="1600" dirty="0"/>
              <a:t> </a:t>
            </a:r>
            <a:r>
              <a:rPr lang="en-US" altLang="en-US" sz="1600" dirty="0"/>
              <a:t>Longitudinal tracking across semesters ,No Faculty-specific personalized improvement ,Real-time mid-semester feedback loops are not implemented</a:t>
            </a:r>
            <a:endParaRPr lang="en-US" altLang="en-US" sz="1600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1600" dirty="0"/>
              <a:t>​</a:t>
            </a:r>
            <a:r>
              <a:rPr lang="en-GB" sz="1600" b="1" dirty="0"/>
              <a:t>Innovation Gaps:</a:t>
            </a:r>
            <a:r>
              <a:rPr lang="en-GB" sz="1600" dirty="0"/>
              <a:t> </a:t>
            </a:r>
            <a:endParaRPr lang="en-GB" sz="1600" dirty="0"/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GB" sz="1600" dirty="0"/>
              <a:t>​</a:t>
            </a:r>
            <a:r>
              <a:rPr lang="en-GB" sz="1600" b="1" dirty="0"/>
              <a:t>PG-UG Homogeneity:</a:t>
            </a:r>
            <a:r>
              <a:rPr lang="en-GB" sz="1600" dirty="0"/>
              <a:t> Existing systems treat postgraduate and undergraduate feedback identically.</a:t>
            </a:r>
            <a:endParaRPr lang="en-GB" sz="1600" dirty="0"/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altLang="en-US" sz="1600" dirty="0">
                <a:sym typeface="+mn-ea"/>
              </a:rPr>
              <a:t>Real-time mid-semester feedback loops are not implemented</a:t>
            </a:r>
            <a:endParaRPr lang="en-GB" sz="1600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1600" dirty="0"/>
              <a:t>​</a:t>
            </a:r>
            <a:r>
              <a:rPr lang="en-GB" sz="1600" b="1" dirty="0"/>
              <a:t>Target:</a:t>
            </a:r>
            <a:r>
              <a:rPr lang="en-GB" sz="1600" dirty="0"/>
              <a:t> Faculty at </a:t>
            </a:r>
            <a:r>
              <a:rPr lang="en-US" altLang="en-GB" sz="1600" dirty="0"/>
              <a:t>Rishi UBR womens </a:t>
            </a:r>
            <a:r>
              <a:rPr lang="en-GB" sz="1600" dirty="0"/>
              <a:t>College.</a:t>
            </a:r>
            <a:endParaRPr lang="en-GB" sz="1600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600" b="1" dirty="0">
                <a:latin typeface="Lato" panose="020F0502020204030203" pitchFamily="34" charset="0"/>
                <a:ea typeface="+mn-lt"/>
                <a:cs typeface="Arial" panose="020B0604020202020204" pitchFamily="34" charset="0"/>
                <a:sym typeface="+mn-ea"/>
              </a:rPr>
              <a:t>limitations of existing approaches or tools</a:t>
            </a:r>
            <a:r>
              <a:rPr lang="en-US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  <a:sym typeface="+mn-ea"/>
              </a:rPr>
              <a:t>:the study limited to RISHI UBR WOMENS COLLEGE,Haderabad.</a:t>
            </a:r>
            <a:endParaRPr lang="en-US" sz="1600" dirty="0">
              <a:latin typeface="Lato" panose="020F0502020204030203" pitchFamily="34" charset="0"/>
              <a:ea typeface="+mn-lt"/>
              <a:cs typeface="Arial" panose="020B0604020202020204" pitchFamily="34" charset="0"/>
              <a:sym typeface="+mn-ea"/>
            </a:endParaRPr>
          </a:p>
          <a:p>
            <a:pPr indent="0" rtl="0">
              <a:buFont typeface="Arial" panose="020B0604020202020204" pitchFamily="34" charset="0"/>
              <a:buNone/>
            </a:pPr>
            <a:endParaRPr lang="en-US" sz="16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US" sz="16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GB" sz="1600" dirty="0"/>
          </a:p>
          <a:p>
            <a:pPr rtl="0"/>
            <a:endParaRPr lang="en-GB" dirty="0"/>
          </a:p>
          <a:p>
            <a:pPr>
              <a:spcAft>
                <a:spcPts val="800"/>
              </a:spcAft>
              <a:tabLst>
                <a:tab pos="4229100" algn="ctr"/>
              </a:tabLst>
            </a:pPr>
            <a:endParaRPr lang="en-US" dirty="0">
              <a:solidFill>
                <a:schemeClr val="tx1"/>
              </a:solidFill>
              <a:effectLst/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5316090" cy="3474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dirty="0"/>
              <a:t>​</a:t>
            </a:r>
            <a:r>
              <a:rPr lang="en-GB" b="1" dirty="0"/>
              <a:t>Methodology:</a:t>
            </a:r>
            <a:r>
              <a:rPr lang="en-GB" dirty="0"/>
              <a:t> </a:t>
            </a:r>
            <a:endParaRPr lang="en-GB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dirty="0"/>
              <a:t>​</a:t>
            </a:r>
            <a:r>
              <a:rPr lang="en-GB" b="1" dirty="0"/>
              <a:t>Technical Steps:</a:t>
            </a:r>
            <a:r>
              <a:rPr lang="en-GB" dirty="0"/>
              <a:t> </a:t>
            </a:r>
            <a:endParaRPr lang="en-GB" dirty="0"/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GB" dirty="0"/>
              <a:t>​</a:t>
            </a:r>
            <a:r>
              <a:rPr lang="en-GB" b="1" dirty="0"/>
              <a:t>Excel:</a:t>
            </a:r>
            <a:r>
              <a:rPr lang="en-GB" dirty="0"/>
              <a:t> Advanced cleaning and Inverse Probability Weighting to correct statistical bias.</a:t>
            </a:r>
            <a:endParaRPr lang="en-GB" dirty="0"/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GB" dirty="0"/>
              <a:t>​</a:t>
            </a:r>
            <a:r>
              <a:rPr lang="en-GB" b="1" dirty="0"/>
              <a:t>Power BI:</a:t>
            </a:r>
            <a:r>
              <a:rPr lang="en-GB" dirty="0"/>
              <a:t> Developing DAX-based "Departmental Normalized Scores" and KPI cards.</a:t>
            </a:r>
            <a:endParaRPr lang="en-GB" dirty="0"/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GB" dirty="0"/>
              <a:t>​</a:t>
            </a:r>
            <a:r>
              <a:rPr lang="en-GB" b="1" dirty="0"/>
              <a:t>Microsoft </a:t>
            </a:r>
            <a:r>
              <a:rPr lang="en-GB" b="1" dirty="0" err="1"/>
              <a:t>Copilot</a:t>
            </a:r>
            <a:r>
              <a:rPr lang="en-GB" b="1" dirty="0"/>
              <a:t>:</a:t>
            </a:r>
            <a:r>
              <a:rPr lang="en-US" altLang="en-GB" b="1" dirty="0"/>
              <a:t>slicers for </a:t>
            </a:r>
            <a:r>
              <a:rPr lang="en-GB" dirty="0"/>
              <a:t> Automating sentiment scoring</a:t>
            </a:r>
            <a:r>
              <a:rPr lang="en-US" altLang="en-GB" dirty="0"/>
              <a:t>,Faculty average,parameters ltas average,fsti average,rmfs average.</a:t>
            </a:r>
            <a:endParaRPr lang="en-GB" dirty="0"/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0000"/>
                </a:solidFill>
              </a:rPr>
              <a:t>​</a:t>
            </a:r>
            <a:r>
              <a:rPr lang="en-GB" b="1" dirty="0">
                <a:solidFill>
                  <a:schemeClr val="tx1"/>
                </a:solidFill>
              </a:rPr>
              <a:t>Key Innovation: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US" altLang="en-GB" dirty="0">
                <a:sym typeface="+mn-ea"/>
              </a:rPr>
              <a:t>An</a:t>
            </a:r>
            <a:r>
              <a:rPr lang="en-GB" dirty="0">
                <a:sym typeface="+mn-ea"/>
              </a:rPr>
              <a:t> interactive dashboard </a:t>
            </a:r>
            <a:r>
              <a:rPr lang="en-US" altLang="en-US" dirty="0">
                <a:sym typeface="+mn-ea"/>
              </a:rPr>
              <a:t>,Real-time mid-semester feedback loops .</a:t>
            </a:r>
            <a:endParaRPr lang="en-US" altLang="en-US" dirty="0"/>
          </a:p>
          <a:p>
            <a:pPr marL="742950" lvl="1" indent="-285750" rtl="0">
              <a:buFont typeface="Arial" panose="020B0604020202020204" pitchFamily="34" charset="0"/>
              <a:buChar char="•"/>
            </a:pPr>
            <a:endParaRPr lang="en-GB" dirty="0">
              <a:solidFill>
                <a:srgbClr val="FF0000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GB" sz="1600" dirty="0"/>
              <a:t>Raw feedback from </a:t>
            </a:r>
            <a:r>
              <a:rPr lang="en-US" altLang="en-GB" sz="1600" dirty="0"/>
              <a:t>520</a:t>
            </a:r>
            <a:r>
              <a:rPr lang="en-GB" sz="1600" dirty="0"/>
              <a:t> postgraduate</a:t>
            </a:r>
            <a:r>
              <a:rPr lang="en-US" altLang="en-GB" sz="1600" dirty="0"/>
              <a:t> and under graduate </a:t>
            </a:r>
            <a:r>
              <a:rPr lang="en-GB" sz="1600" dirty="0"/>
              <a:t> student records across </a:t>
            </a:r>
            <a:r>
              <a:rPr lang="en-US" altLang="en-GB" sz="1600" dirty="0"/>
              <a:t>Business management</a:t>
            </a:r>
            <a:r>
              <a:rPr lang="en-GB" sz="1600" dirty="0"/>
              <a:t>, Sciences, and Commerce.</a:t>
            </a:r>
            <a:endParaRPr lang="en-GB" sz="1600" dirty="0"/>
          </a:p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600" dirty="0">
                <a:latin typeface="Lato" panose="020F0502020204030203" pitchFamily="34" charset="0"/>
                <a:cs typeface="Arial" panose="020B0604020202020204" pitchFamily="34" charset="0"/>
              </a:rPr>
              <a:t>Data hygiene using Excel </a:t>
            </a:r>
            <a:r>
              <a:rPr lang="en-US" altLang="en-GB" sz="1600" dirty="0">
                <a:latin typeface="Lato" panose="020F0502020204030203" pitchFamily="34" charset="0"/>
                <a:cs typeface="Arial" panose="020B0604020202020204" pitchFamily="34" charset="0"/>
              </a:rPr>
              <a:t>“Average”,”Countif”</a:t>
            </a:r>
            <a:r>
              <a:rPr lang="en-GB" sz="1600" dirty="0">
                <a:latin typeface="Lato" panose="020F0502020204030203" pitchFamily="34" charset="0"/>
                <a:cs typeface="Arial" panose="020B0604020202020204" pitchFamily="34" charset="0"/>
              </a:rPr>
              <a:t>“Text-to-Columns” and </a:t>
            </a:r>
            <a:r>
              <a:rPr lang="en-GB" sz="1600" dirty="0">
                <a:solidFill>
                  <a:schemeClr val="tx1"/>
                </a:solidFill>
                <a:latin typeface="Lato" panose="020F0502020204030203" pitchFamily="34" charset="0"/>
                <a:cs typeface="Arial" panose="020B0604020202020204" pitchFamily="34" charset="0"/>
              </a:rPr>
              <a:t>“IFERROR” logic. </a:t>
            </a:r>
            <a:endParaRPr lang="en-GB" sz="1600" dirty="0">
              <a:solidFill>
                <a:schemeClr val="tx1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  <a:sym typeface="+mn-ea"/>
              </a:rPr>
              <a:t> Excel, Power BI, Copilot, or AI Chatbots are integrated to analyse LTAS,FSTI,RMFS 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  <a:sym typeface="+mn-ea"/>
              </a:rPr>
              <a:t>parameters.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  <a:sym typeface="+mn-ea"/>
              </a:rPr>
              <a:t> 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354031"/>
            <a:ext cx="4023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GB" sz="1600" dirty="0">
                <a:sym typeface="+mn-ea"/>
              </a:rPr>
              <a:t>Charts,An</a:t>
            </a:r>
            <a:r>
              <a:rPr lang="en-GB" sz="1600" dirty="0">
                <a:sym typeface="+mn-ea"/>
              </a:rPr>
              <a:t> interactive dashboard </a:t>
            </a:r>
            <a:r>
              <a:rPr lang="en-US" altLang="en-US" sz="1600" dirty="0">
                <a:sym typeface="+mn-ea"/>
              </a:rPr>
              <a:t>,Real-time mid-semester feedback loop.</a:t>
            </a:r>
            <a:endParaRPr lang="en-GB" sz="1600" dirty="0">
              <a:solidFill>
                <a:srgbClr val="FF0000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Demo 1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GB" sz="1600" b="1" dirty="0"/>
              <a:t>Statistical Bias Correction:</a:t>
            </a:r>
            <a:r>
              <a:rPr lang="en-GB" sz="1600" dirty="0"/>
              <a:t> </a:t>
            </a:r>
            <a:endParaRPr lang="en-GB" sz="1600" dirty="0"/>
          </a:p>
          <a:p>
            <a:pPr algn="ctr"/>
            <a:r>
              <a:rPr lang="en-US" altLang="en-GB" sz="1600" dirty="0">
                <a:solidFill>
                  <a:schemeClr val="tx1"/>
                </a:solidFill>
                <a:latin typeface="Lato" panose="020F0502020204030203" pitchFamily="34" charset="0"/>
                <a:cs typeface="Arial" panose="020B0604020202020204" pitchFamily="34" charset="0"/>
              </a:rPr>
              <a:t>clean excel data</a:t>
            </a:r>
            <a:endParaRPr lang="en-US" altLang="en-GB" sz="1600" dirty="0">
              <a:solidFill>
                <a:schemeClr val="tx1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  <a:p>
            <a:endParaRPr lang="en-IN">
              <a:latin typeface="Lato" panose="020F0502020204030203" pitchFamily="34" charset="0"/>
            </a:endParaRPr>
          </a:p>
          <a:p>
            <a:endParaRPr lang="en-IN">
              <a:latin typeface="Lato" panose="020F0502020204030203" pitchFamily="34" charset="0"/>
            </a:endParaRPr>
          </a:p>
          <a:p>
            <a:r>
              <a:rPr lang="en-GB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  <a:sym typeface="+mn-ea"/>
              </a:rPr>
              <a:t> Interactive KPIs</a:t>
            </a:r>
            <a:r>
              <a:rPr lang="en-US" altLang="en-GB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  <a:sym typeface="+mn-ea"/>
              </a:rPr>
              <a:t>,</a:t>
            </a:r>
            <a:r>
              <a:rPr lang="en-GB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  <a:sym typeface="+mn-ea"/>
              </a:rPr>
              <a:t>Slicers for filtering data by Department</a:t>
            </a:r>
            <a:r>
              <a:rPr lang="en-US" altLang="en-GB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  <a:sym typeface="+mn-ea"/>
              </a:rPr>
              <a:t>s.</a:t>
            </a:r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Demo 2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33572" y="3019837"/>
            <a:ext cx="2514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GB" sz="1600" dirty="0"/>
          </a:p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Demo 3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1600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 </a:t>
            </a:r>
            <a:r>
              <a:rPr lang="en-US" altLang="en-GB" sz="1600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Aplly Power BI for KPIS,SLICERS,USE COLUMN CHART,DONUT CHART</a:t>
            </a:r>
            <a:endParaRPr lang="en-US" altLang="en-GB" sz="1600" dirty="0">
              <a:latin typeface="Lato" panose="020F0502020204030203" pitchFamily="34" charset="0"/>
              <a:ea typeface="Calibri" panose="020F0502020204030204" pitchFamily="34" charset="-122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[https://your-project-demo-link.com]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You can embed a video your live project.]</a:t>
            </a:r>
            <a:r>
              <a:rPr lang="en-GB" sz="1100" i="1" dirty="0">
                <a:solidFill>
                  <a:srgbClr val="607D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YET TO BE ADDED </a:t>
            </a:r>
            <a:endParaRPr lang="en-US" sz="1100" dirty="0"/>
          </a:p>
        </p:txBody>
      </p:sp>
      <p:graphicFrame>
        <p:nvGraphicFramePr>
          <p:cNvPr id="2" name="Object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27025" y="641350"/>
          <a:ext cx="8489950" cy="386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8489950" imgH="3860800" progId="Excel.Sheet.12">
                  <p:embed/>
                </p:oleObj>
              </mc:Choice>
              <mc:Fallback>
                <p:oleObj name="" r:id="rId1" imgW="8489950" imgH="3860800" progId="Excel.Sheet.12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7025" y="641350"/>
                        <a:ext cx="8489950" cy="3860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rtl="0"/>
            <a:r>
              <a:rPr lang="en-GB" dirty="0"/>
              <a:t>​</a:t>
            </a:r>
            <a:r>
              <a:rPr lang="en-GB" b="1" dirty="0"/>
              <a:t>Impact:</a:t>
            </a:r>
            <a:r>
              <a:rPr lang="en-GB" dirty="0"/>
              <a:t> Successfully transformed stagnant institutional data into a dynamic intelligence system.</a:t>
            </a:r>
            <a:endParaRPr lang="en-GB" dirty="0"/>
          </a:p>
          <a:p>
            <a:pPr rtl="0"/>
            <a:r>
              <a:rPr lang="en-GB" dirty="0"/>
              <a:t>​</a:t>
            </a:r>
            <a:r>
              <a:rPr lang="en-GB" b="1" dirty="0"/>
              <a:t>Achievement:</a:t>
            </a:r>
            <a:r>
              <a:rPr lang="en-GB" dirty="0"/>
              <a:t> Established a scalable model for modernizing feedback loops in Indian education.</a:t>
            </a:r>
            <a:endParaRPr lang="en-GB" dirty="0"/>
          </a:p>
          <a:p>
            <a:pPr rtl="0"/>
            <a:r>
              <a:rPr lang="en-GB" dirty="0"/>
              <a:t>​</a:t>
            </a:r>
            <a:r>
              <a:rPr lang="en-GB" b="1" dirty="0"/>
              <a:t>Value:</a:t>
            </a:r>
            <a:r>
              <a:rPr lang="en-GB" dirty="0"/>
              <a:t> Identified specific faculty development needs by bridging the gap between student expectations and </a:t>
            </a:r>
            <a:r>
              <a:rPr lang="en-US" altLang="en-GB" dirty="0"/>
              <a:t>Faculty</a:t>
            </a:r>
            <a:r>
              <a:rPr lang="en-GB" dirty="0"/>
              <a:t> output</a:t>
            </a:r>
            <a:endParaRPr lang="en-GB" dirty="0"/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rtl="0"/>
            <a:r>
              <a:rPr lang="en-GB" b="1" dirty="0"/>
              <a:t>Real-time Integration:</a:t>
            </a:r>
            <a:r>
              <a:rPr lang="en-GB" dirty="0"/>
              <a:t> Using Power Automate to trigger analysis immediately upon form submission.</a:t>
            </a:r>
            <a:endParaRPr lang="en-GB" dirty="0"/>
          </a:p>
          <a:p>
            <a:pPr rtl="0"/>
            <a:r>
              <a:rPr lang="en-GB" dirty="0"/>
              <a:t>​</a:t>
            </a:r>
            <a:r>
              <a:rPr lang="en-GB" b="1" dirty="0"/>
              <a:t>Predictive Analytics:</a:t>
            </a:r>
            <a:r>
              <a:rPr lang="en-GB" dirty="0"/>
              <a:t> Forecasting student satisfaction dips based on early-semester trends.</a:t>
            </a:r>
            <a:endParaRPr lang="en-GB" dirty="0"/>
          </a:p>
          <a:p>
            <a:pPr rtl="0"/>
            <a:r>
              <a:rPr lang="en-GB" dirty="0"/>
              <a:t>​</a:t>
            </a:r>
            <a:r>
              <a:rPr lang="en-GB" b="1" dirty="0"/>
              <a:t>Scalability:</a:t>
            </a:r>
            <a:r>
              <a:rPr lang="en-GB" dirty="0"/>
              <a:t> Expanding the system to the entire college population (5000+ students).</a:t>
            </a:r>
            <a:endParaRPr lang="en-GB" dirty="0"/>
          </a:p>
          <a:p>
            <a:pPr rtl="0"/>
            <a:r>
              <a:rPr lang="en-GB" dirty="0"/>
              <a:t>​</a:t>
            </a:r>
            <a:r>
              <a:rPr lang="en-GB" b="1" dirty="0"/>
              <a:t>Standardization:</a:t>
            </a:r>
            <a:r>
              <a:rPr lang="en-GB" dirty="0"/>
              <a:t> Developing a standardized AI prompt library for all academic departments.</a:t>
            </a:r>
            <a:endParaRPr lang="en-GB" dirty="0"/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289425" y="461327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 panose="020F0502020204030204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 panose="020F0502020204030204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 panose="020F0502020204030204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5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  <a:endParaRPr lang="en-US" sz="5000" b="1" dirty="0">
              <a:solidFill>
                <a:srgbClr val="0D358D"/>
              </a:solidFill>
              <a:latin typeface="Lato" panose="020F0502020204030203" pitchFamily="34" charset="0"/>
              <a:ea typeface="Aileron Ultra-Bold"/>
              <a:cs typeface="Arial" panose="020B0604020202020204" pitchFamily="34" charset="0"/>
              <a:sym typeface="Aileron Ultra-Bold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654175" y="1294130"/>
            <a:ext cx="54883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/>
              <a:t>AICW PROJECT VIDEO LINK</a:t>
            </a:r>
            <a:endParaRPr lang="en-US"/>
          </a:p>
          <a:p>
            <a:pPr algn="ctr"/>
            <a:endParaRPr lang="en-US"/>
          </a:p>
          <a:p>
            <a:pPr algn="ctr"/>
            <a:r>
              <a:rPr lang="en-US" altLang="en-US"/>
              <a:t>https://drive.google.com/drive/u/1/home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ARTICULATE_SLIDE_THUMBNAIL_REFRESH" val="1"/>
</p:tagLst>
</file>

<file path=ppt/tags/tag2.xml><?xml version="1.0" encoding="utf-8"?>
<p:tagLst xmlns:p="http://schemas.openxmlformats.org/presentationml/2006/main">
  <p:tag name="ARTICULATE_SLIDE_THUMBNAIL_REFRESH" val="1"/>
</p:tagLst>
</file>

<file path=ppt/tags/tag3.xml><?xml version="1.0" encoding="utf-8"?>
<p:tagLst xmlns:p="http://schemas.openxmlformats.org/presentationml/2006/main">
  <p:tag name="ARTICULATE_SLIDE_THUMBNAIL_REFRESH" val="1"/>
</p:tagLst>
</file>

<file path=ppt/tags/tag4.xml><?xml version="1.0" encoding="utf-8"?>
<p:tagLst xmlns:p="http://schemas.openxmlformats.org/presentationml/2006/main">
  <p:tag name="ARTICULATE_SLIDE_THUMBNAIL_REFRESH" val="1"/>
</p:tagLst>
</file>

<file path=ppt/tags/tag5.xml><?xml version="1.0" encoding="utf-8"?>
<p:tagLst xmlns:p="http://schemas.openxmlformats.org/presentationml/2006/main">
  <p:tag name="ARTICULATE_SLIDE_THUMBNAIL_REFRESH" val="1"/>
</p:tagLst>
</file>

<file path=ppt/tags/tag6.xml><?xml version="1.0" encoding="utf-8"?>
<p:tagLst xmlns:p="http://schemas.openxmlformats.org/presentationml/2006/main">
  <p:tag name="ARTICULATE_SLIDE_THUMBNAIL_REFRESH" val="1"/>
</p:tagLst>
</file>

<file path=ppt/tags/tag7.xml><?xml version="1.0" encoding="utf-8"?>
<p:tagLst xmlns:p="http://schemas.openxmlformats.org/presentationml/2006/main">
  <p:tag name="ARTICULATE_SLIDE_THUMBNAIL_REFRESH" val="1"/>
</p:tagLst>
</file>

<file path=ppt/tags/tag8.xml><?xml version="1.0" encoding="utf-8"?>
<p:tagLst xmlns:p="http://schemas.openxmlformats.org/presentationml/2006/main">
  <p:tag name="ARTICULATE_SLIDE_THUMBNAIL_REFRESH" val="1"/>
</p:tagLst>
</file>

<file path=ppt/tags/tag9.xml><?xml version="1.0" encoding="utf-8"?>
<p:tagLst xmlns:p="http://schemas.openxmlformats.org/presentationml/2006/main">
  <p:tag name="ARTICULATE_SLIDE_THUMBNAIL_REFRESH" val="1"/>
</p:tagLst>
</file>

<file path=ppt/tags/tag10.xml><?xml version="1.0" encoding="utf-8"?>
<p:tagLst xmlns:p="http://schemas.openxmlformats.org/presentationml/2006/main">
  <p:tag name="ARTICULATE_SLIDE_THUMBNAIL_REFRESH" val="1"/>
</p:tagLst>
</file>

<file path=ppt/tags/tag11.xml><?xml version="1.0" encoding="utf-8"?>
<p:tagLst xmlns:p="http://schemas.openxmlformats.org/presentationml/2006/main">
  <p:tag name="ARTICULATE_SLIDE_THUMBNAIL_REFRESH" val="1"/>
</p:tagLst>
</file>

<file path=ppt/tags/tag12.xml><?xml version="1.0" encoding="utf-8"?>
<p:tagLst xmlns:p="http://schemas.openxmlformats.org/presentationml/2006/main">
  <p:tag name="ARTICULATE_SLIDE_THUMBNAIL_REFRESH" val="1"/>
</p:tagLst>
</file>

<file path=ppt/tags/tag13.xml><?xml version="1.0" encoding="utf-8"?>
<p:tagLst xmlns:p="http://schemas.openxmlformats.org/presentationml/2006/main">
  <p:tag name="ARTICULATE_DESIGN_ID_OFFICE THEME" val="ROGxgyxs"/>
  <p:tag name="ARTICULATE_PROJECT_OPEN" val="0"/>
  <p:tag name="ARTICULATE_SLIDE_COUNT" val="1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3413</Words>
  <Application>WPS Presentation</Application>
  <PresentationFormat>On-screen Show (16:9)</PresentationFormat>
  <Paragraphs>132</Paragraphs>
  <Slides>11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9" baseType="lpstr">
      <vt:lpstr>Arial</vt:lpstr>
      <vt:lpstr>SimSun</vt:lpstr>
      <vt:lpstr>Wingdings</vt:lpstr>
      <vt:lpstr>Aileron Bold</vt:lpstr>
      <vt:lpstr>Segoe Print</vt:lpstr>
      <vt:lpstr>Aileron</vt:lpstr>
      <vt:lpstr>Lato</vt:lpstr>
      <vt:lpstr>Calibri</vt:lpstr>
      <vt:lpstr>Calibri</vt:lpstr>
      <vt:lpstr>Times New Roman</vt:lpstr>
      <vt:lpstr>Open Sans</vt:lpstr>
      <vt:lpstr>Calibri</vt:lpstr>
      <vt:lpstr>Calibri</vt:lpstr>
      <vt:lpstr>Aileron Ultra-Bold</vt:lpstr>
      <vt:lpstr>Microsoft YaHei</vt:lpstr>
      <vt:lpstr>Arial Unicode MS</vt:lpstr>
      <vt:lpstr>Office Theme</vt:lpstr>
      <vt:lpstr>Excel.Sheet.12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creator>PptxGenJS</dc:creator>
  <dc:subject>PptxGenJS Presentation</dc:subject>
  <cp:lastModifiedBy>Mandadi Kavitha</cp:lastModifiedBy>
  <cp:revision>39</cp:revision>
  <dcterms:created xsi:type="dcterms:W3CDTF">2026-02-18T09:17:00Z</dcterms:created>
  <dcterms:modified xsi:type="dcterms:W3CDTF">2026-04-20T05:39:57Z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  <property fmtid="{D5CDD505-2E9C-101B-9397-08002B2CF9AE}" pid="4" name="KSOProductBuildVer">
    <vt:lpwstr>1033-12.1.0.25242</vt:lpwstr>
  </property>
  <property fmtid="{D5CDD505-2E9C-101B-9397-08002B2CF9AE}" pid="5" name="ICV">
    <vt:lpwstr>E3F67C8526264CE186615ED68747F09E_13</vt:lpwstr>
  </property>
</Properties>
</file>