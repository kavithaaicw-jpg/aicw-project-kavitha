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10" d="100"/>
          <a:sy n="110" d="100"/>
        </p:scale>
        <p:origin x="72" y="67"/>
      </p:cViewPr>
      <p:guideLst>
        <p:guide orient="horz" pos="622"/>
        <p:guide orient="horz" pos="852"/>
        <p:guide pos="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image" Target="../media/image14.emf"/><Relationship Id="rId1" Type="http://schemas.openxmlformats.org/officeDocument/2006/relationships/package" Target="../embeddings/Workbook1.xlsx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37479" y="3722787"/>
            <a:ext cx="1633432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Dr.Kavitha.M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176086" y="3803810"/>
            <a:ext cx="2272871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drmandadi.kavith@gmail.com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873159" y="4285006"/>
            <a:ext cx="2272871" cy="435374"/>
            <a:chOff x="2759969" y="4295282"/>
            <a:chExt cx="2272871" cy="435374"/>
          </a:xfrm>
        </p:grpSpPr>
        <p:sp>
          <p:nvSpPr>
            <p:cNvPr id="67" name="TextBox 41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2759969" y="4503221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GB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GB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R 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40" y="1082801"/>
            <a:ext cx="5002346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  <a:sym typeface="+mn-ea"/>
              </a:rPr>
              <a:t> Brief overview of project </a:t>
            </a:r>
            <a:r>
              <a:rPr lang="en-GB" b="1" dirty="0"/>
              <a:t>​:</a:t>
            </a:r>
            <a:r>
              <a:rPr lang="en-GB" dirty="0"/>
              <a:t> To address the  qualitative student feedback at </a:t>
            </a:r>
            <a:r>
              <a:rPr lang="en-US" altLang="en-GB" dirty="0"/>
              <a:t>Rishi ubr womens</a:t>
            </a:r>
            <a:r>
              <a:rPr lang="en-GB" dirty="0"/>
              <a:t> College using AI and Data Analytics.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b="1" dirty="0">
                <a:sym typeface="+mn-ea"/>
              </a:rPr>
              <a:t>Objective</a:t>
            </a:r>
            <a:r>
              <a:rPr lang="en-US" altLang="en-GB" b="1" dirty="0">
                <a:sym typeface="+mn-ea"/>
              </a:rPr>
              <a:t>:</a:t>
            </a:r>
            <a:r>
              <a:rPr lang="en-US" altLang="en-US" dirty="0"/>
              <a:t>Longitudinal tracking across semesters,Faculty-specific personalized improvement,Real-time mid-semester feedback loops .</a:t>
            </a:r>
            <a:endParaRPr lang="en-US" altLang="en-US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 </a:t>
            </a:r>
            <a:r>
              <a:rPr lang="en-US" b="1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tools and technologies</a:t>
            </a:r>
            <a:r>
              <a:rPr lang="en-GB" b="1" dirty="0"/>
              <a:t>:</a:t>
            </a:r>
            <a:r>
              <a:rPr lang="en-GB" dirty="0"/>
              <a:t> Microsoft Excel (with Power Query), Power BI, and Microsoft </a:t>
            </a:r>
            <a:r>
              <a:rPr lang="en-GB" dirty="0" err="1"/>
              <a:t>Copilot</a:t>
            </a:r>
            <a:r>
              <a:rPr lang="en-GB" dirty="0"/>
              <a:t>.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>
                <a:sym typeface="+mn-ea"/>
              </a:rPr>
              <a:t>​</a:t>
            </a:r>
            <a:r>
              <a:rPr lang="en-GB" b="1" dirty="0">
                <a:sym typeface="+mn-ea"/>
              </a:rPr>
              <a:t>Outcome:</a:t>
            </a:r>
            <a:r>
              <a:rPr lang="en-US" altLang="en-GB" dirty="0">
                <a:sym typeface="+mn-ea"/>
              </a:rPr>
              <a:t>Create An</a:t>
            </a:r>
            <a:r>
              <a:rPr lang="en-GB" dirty="0">
                <a:sym typeface="+mn-ea"/>
              </a:rPr>
              <a:t> interactive dashboard </a:t>
            </a:r>
            <a:endParaRPr lang="en-GB" dirty="0">
              <a:sym typeface="+mn-ea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Key Highlight:</a:t>
            </a:r>
            <a:r>
              <a:rPr lang="en-GB" dirty="0"/>
              <a:t> Implements PG</a:t>
            </a:r>
            <a:r>
              <a:rPr lang="en-US" altLang="en-GB" dirty="0"/>
              <a:t> &amp;UG</a:t>
            </a:r>
            <a:r>
              <a:rPr lang="en-GB" dirty="0"/>
              <a:t>-specific feedback framework,</a:t>
            </a:r>
            <a:r>
              <a:rPr lang="en-US" altLang="en-GB" dirty="0"/>
              <a:t>for Analysing</a:t>
            </a:r>
            <a:r>
              <a:rPr lang="en-GB" dirty="0"/>
              <a:t> expectations from</a:t>
            </a:r>
            <a:r>
              <a:rPr lang="en-US" altLang="en-GB" dirty="0"/>
              <a:t> Post graduate and </a:t>
            </a:r>
            <a:r>
              <a:rPr lang="en-GB" dirty="0"/>
              <a:t> undergraduate needs.</a:t>
            </a:r>
            <a:endParaRPr lang="en-GB" dirty="0"/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082801"/>
            <a:ext cx="476291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b="1" dirty="0"/>
              <a:t>Core Issue:</a:t>
            </a:r>
            <a:r>
              <a:rPr lang="en-US" altLang="en-GB" sz="1600" dirty="0"/>
              <a:t>No</a:t>
            </a:r>
            <a:r>
              <a:rPr lang="en-GB" sz="1600" dirty="0"/>
              <a:t> </a:t>
            </a:r>
            <a:r>
              <a:rPr lang="en-US" altLang="en-US" sz="1600" dirty="0"/>
              <a:t>Longitudinal tracking across semesters ,No Faculty-specific personalized improvement ,Real-time mid-semester feedback loops are not implemented</a:t>
            </a:r>
            <a:endParaRPr lang="en-US" altLang="en-US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Innovation Gaps:</a:t>
            </a:r>
            <a:r>
              <a:rPr lang="en-GB" sz="1600" dirty="0"/>
              <a:t> </a:t>
            </a:r>
            <a:endParaRPr lang="en-GB" sz="16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PG-UG Homogeneity:</a:t>
            </a:r>
            <a:r>
              <a:rPr lang="en-GB" sz="1600" dirty="0"/>
              <a:t> Existing systems treat postgraduate and undergraduate feedback identically.</a:t>
            </a:r>
            <a:endParaRPr lang="en-GB" sz="16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altLang="en-US" sz="1600" dirty="0">
                <a:sym typeface="+mn-ea"/>
              </a:rPr>
              <a:t>Real-time mid-semester feedback loops are not implemented</a:t>
            </a:r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sz="1600" dirty="0"/>
              <a:t>​</a:t>
            </a:r>
            <a:r>
              <a:rPr lang="en-GB" sz="1600" b="1" dirty="0"/>
              <a:t>Target:</a:t>
            </a:r>
            <a:r>
              <a:rPr lang="en-GB" sz="1600" dirty="0"/>
              <a:t> Faculty at </a:t>
            </a:r>
            <a:r>
              <a:rPr lang="en-US" altLang="en-GB" sz="1600" dirty="0"/>
              <a:t>Rishi UBR womens </a:t>
            </a:r>
            <a:r>
              <a:rPr lang="en-GB" sz="1600" dirty="0"/>
              <a:t>College.</a:t>
            </a:r>
            <a:endParaRPr lang="en-GB" sz="1600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limitations of existing approaches or tools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  <a:sym typeface="+mn-ea"/>
              </a:rPr>
              <a:t>:the study limited to RISHI UBR WOMENS COLLEGE,Haderabad.</a:t>
            </a: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  <a:sym typeface="+mn-ea"/>
            </a:endParaRPr>
          </a:p>
          <a:p>
            <a:pPr indent="0" rtl="0">
              <a:buFont typeface="Arial" panose="020B0604020202020204" pitchFamily="34" charset="0"/>
              <a:buNone/>
            </a:pP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n-GB" sz="1600" dirty="0"/>
          </a:p>
          <a:p>
            <a:pPr rtl="0"/>
            <a:endParaRPr lang="en-GB" dirty="0"/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solidFill>
                <a:schemeClr val="tx1"/>
              </a:solidFill>
              <a:effectLst/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31609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Methodology:</a:t>
            </a:r>
            <a:r>
              <a:rPr lang="en-GB" dirty="0"/>
              <a:t> </a:t>
            </a:r>
            <a:endParaRPr lang="en-GB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Technical Steps:</a:t>
            </a:r>
            <a:r>
              <a:rPr lang="en-GB" dirty="0"/>
              <a:t> 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Excel:</a:t>
            </a:r>
            <a:r>
              <a:rPr lang="en-GB" dirty="0"/>
              <a:t> Advanced cleaning and Inverse Probability Weighting to correct statistical bias.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Power BI:</a:t>
            </a:r>
            <a:r>
              <a:rPr lang="en-GB" dirty="0"/>
              <a:t> Developing DAX-based "Departmental Normalized Scores" and KPI cards.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/>
              <a:t>​</a:t>
            </a:r>
            <a:r>
              <a:rPr lang="en-GB" b="1" dirty="0"/>
              <a:t>Microsoft </a:t>
            </a:r>
            <a:r>
              <a:rPr lang="en-GB" b="1" dirty="0" err="1"/>
              <a:t>Copilot</a:t>
            </a:r>
            <a:r>
              <a:rPr lang="en-GB" b="1" dirty="0"/>
              <a:t>:</a:t>
            </a:r>
            <a:r>
              <a:rPr lang="en-US" altLang="en-GB" b="1" dirty="0"/>
              <a:t>slicers for </a:t>
            </a:r>
            <a:r>
              <a:rPr lang="en-GB" dirty="0"/>
              <a:t> Automating sentiment scoring</a:t>
            </a:r>
            <a:r>
              <a:rPr lang="en-US" altLang="en-GB" dirty="0"/>
              <a:t>,Faculty average,parameters ltas average,fsti average,rmfs average.</a:t>
            </a:r>
            <a:endParaRPr lang="en-GB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​</a:t>
            </a:r>
            <a:r>
              <a:rPr lang="en-GB" b="1" dirty="0">
                <a:solidFill>
                  <a:schemeClr val="tx1"/>
                </a:solidFill>
              </a:rPr>
              <a:t>Key Innovation: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US" altLang="en-GB" dirty="0">
                <a:sym typeface="+mn-ea"/>
              </a:rPr>
              <a:t>An</a:t>
            </a:r>
            <a:r>
              <a:rPr lang="en-GB" dirty="0">
                <a:sym typeface="+mn-ea"/>
              </a:rPr>
              <a:t> interactive dashboard </a:t>
            </a:r>
            <a:r>
              <a:rPr lang="en-US" altLang="en-US" dirty="0">
                <a:sym typeface="+mn-ea"/>
              </a:rPr>
              <a:t>,Real-time mid-semester feedback loops .</a:t>
            </a:r>
            <a:endParaRPr lang="en-US" altLang="en-US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GB" dirty="0">
              <a:solidFill>
                <a:srgbClr val="FF000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GB" sz="1600" dirty="0"/>
              <a:t>Raw feedback from </a:t>
            </a:r>
            <a:r>
              <a:rPr lang="en-US" altLang="en-GB" sz="1600" dirty="0"/>
              <a:t>520</a:t>
            </a:r>
            <a:r>
              <a:rPr lang="en-GB" sz="1600" dirty="0"/>
              <a:t> postgraduate</a:t>
            </a:r>
            <a:r>
              <a:rPr lang="en-US" altLang="en-GB" sz="1600" dirty="0"/>
              <a:t> and under graduate </a:t>
            </a:r>
            <a:r>
              <a:rPr lang="en-GB" sz="1600" dirty="0"/>
              <a:t> student records across </a:t>
            </a:r>
            <a:r>
              <a:rPr lang="en-US" altLang="en-GB" sz="1600" dirty="0"/>
              <a:t>Business management</a:t>
            </a:r>
            <a:r>
              <a:rPr lang="en-GB" sz="1600" dirty="0"/>
              <a:t>, Sciences, and Commerce.</a:t>
            </a:r>
            <a:endParaRPr lang="en-GB" sz="1600" dirty="0"/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Data hygiene using Excel </a:t>
            </a:r>
            <a:r>
              <a:rPr lang="en-US" altLang="en-GB" sz="1600" dirty="0">
                <a:latin typeface="Lato" panose="020F0502020204030203" pitchFamily="34" charset="0"/>
                <a:cs typeface="Arial" panose="020B0604020202020204" pitchFamily="34" charset="0"/>
              </a:rPr>
              <a:t>“Average”,”Countif”</a:t>
            </a:r>
            <a:r>
              <a:rPr lang="en-GB" sz="1600" dirty="0">
                <a:latin typeface="Lato" panose="020F0502020204030203" pitchFamily="34" charset="0"/>
                <a:cs typeface="Arial" panose="020B0604020202020204" pitchFamily="34" charset="0"/>
              </a:rPr>
              <a:t>“Text-to-Columns” and </a:t>
            </a:r>
            <a:r>
              <a:rPr lang="en-GB" sz="1600" dirty="0">
                <a:solidFill>
                  <a:schemeClr val="tx1"/>
                </a:solidFill>
                <a:latin typeface="Lato" panose="020F0502020204030203" pitchFamily="34" charset="0"/>
                <a:cs typeface="Arial" panose="020B0604020202020204" pitchFamily="34" charset="0"/>
              </a:rPr>
              <a:t>“IFERROR” logic. </a:t>
            </a:r>
            <a:endParaRPr lang="en-GB" sz="1600" dirty="0">
              <a:solidFill>
                <a:schemeClr val="tx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Excel, Power BI, Copilot, or AI Chatbots are integrated to analyse LTAS,FSTI,RMFS 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parameters.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354031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GB" sz="1600" dirty="0">
                <a:sym typeface="+mn-ea"/>
              </a:rPr>
              <a:t>Charts,An</a:t>
            </a:r>
            <a:r>
              <a:rPr lang="en-GB" sz="1600" dirty="0">
                <a:sym typeface="+mn-ea"/>
              </a:rPr>
              <a:t> interactive dashboard </a:t>
            </a:r>
            <a:r>
              <a:rPr lang="en-US" altLang="en-US" sz="1600" dirty="0">
                <a:sym typeface="+mn-ea"/>
              </a:rPr>
              <a:t>,Real-time mid-semester feedback loop.</a:t>
            </a:r>
            <a:endParaRPr lang="en-GB" sz="1600" dirty="0">
              <a:solidFill>
                <a:srgbClr val="FF0000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GB" sz="1600" b="1" dirty="0"/>
              <a:t>Statistical Bias Correction:</a:t>
            </a:r>
            <a:r>
              <a:rPr lang="en-GB" sz="1600" dirty="0"/>
              <a:t> </a:t>
            </a:r>
            <a:endParaRPr lang="en-GB" sz="1600" dirty="0"/>
          </a:p>
          <a:p>
            <a:pPr algn="ctr"/>
            <a:r>
              <a:rPr lang="en-US" altLang="en-GB" sz="1600" dirty="0">
                <a:solidFill>
                  <a:schemeClr val="tx1"/>
                </a:solidFill>
                <a:latin typeface="Lato" panose="020F0502020204030203" pitchFamily="34" charset="0"/>
                <a:cs typeface="Arial" panose="020B0604020202020204" pitchFamily="34" charset="0"/>
              </a:rPr>
              <a:t>clean excel data</a:t>
            </a:r>
            <a:endParaRPr lang="en-US" altLang="en-GB" sz="1600" dirty="0">
              <a:solidFill>
                <a:schemeClr val="tx1"/>
              </a:solidFill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  <a:p>
            <a:endParaRPr lang="en-IN">
              <a:latin typeface="Lato" panose="020F0502020204030203" pitchFamily="34" charset="0"/>
            </a:endParaRPr>
          </a:p>
          <a:p>
            <a:endParaRPr lang="en-IN">
              <a:latin typeface="Lato" panose="020F0502020204030203" pitchFamily="34" charset="0"/>
            </a:endParaRPr>
          </a:p>
          <a:p>
            <a:r>
              <a:rPr 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 Interactive KPIs</a:t>
            </a:r>
            <a:r>
              <a:rPr lang="en-US" alt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,</a:t>
            </a:r>
            <a:r>
              <a:rPr 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Slicers for filtering data by Department</a:t>
            </a:r>
            <a:r>
              <a:rPr lang="en-US" altLang="en-GB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  <a:sym typeface="+mn-ea"/>
              </a:rPr>
              <a:t>s.</a:t>
            </a:r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33572" y="3019837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GB" sz="1600" dirty="0"/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GB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 </a:t>
            </a:r>
            <a:r>
              <a:rPr lang="en-US" altLang="en-GB" sz="16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Aplly Power BI for KPIS,SLICERS,USE COLUMN CHART,DONUT CHART</a:t>
            </a:r>
            <a:endParaRPr lang="en-US" altLang="en-GB" sz="1600" dirty="0">
              <a:latin typeface="Lato" panose="020F0502020204030203" pitchFamily="34" charset="0"/>
              <a:ea typeface="Calibri" panose="020F0502020204030204" pitchFamily="34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r>
              <a:rPr lang="en-GB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YET TO BE ADDED </a:t>
            </a:r>
            <a:endParaRPr lang="en-US" sz="1100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7025" y="641350"/>
          <a:ext cx="8489950" cy="386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8489950" imgH="3860800" progId="Excel.Sheet.12">
                  <p:embed/>
                </p:oleObj>
              </mc:Choice>
              <mc:Fallback>
                <p:oleObj name="" r:id="rId1" imgW="8489950" imgH="3860800" progId="Excel.Sheet.12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025" y="641350"/>
                        <a:ext cx="8489950" cy="386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rtl="0"/>
            <a:r>
              <a:rPr lang="en-GB" dirty="0"/>
              <a:t>​</a:t>
            </a:r>
            <a:r>
              <a:rPr lang="en-GB" b="1" dirty="0"/>
              <a:t>Impact:</a:t>
            </a:r>
            <a:r>
              <a:rPr lang="en-GB" dirty="0"/>
              <a:t> Successfully transformed stagnant institutional data into a dynamic intelligence system.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Achievement:</a:t>
            </a:r>
            <a:r>
              <a:rPr lang="en-GB" dirty="0"/>
              <a:t> Established a scalable model for modernizing feedback loops in Indian education.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Value:</a:t>
            </a:r>
            <a:r>
              <a:rPr lang="en-GB" dirty="0"/>
              <a:t> Identified specific faculty development needs by bridging the gap between student expectations and </a:t>
            </a:r>
            <a:r>
              <a:rPr lang="en-US" altLang="en-GB" dirty="0"/>
              <a:t>Faculty</a:t>
            </a:r>
            <a:r>
              <a:rPr lang="en-GB" dirty="0"/>
              <a:t> output</a:t>
            </a:r>
            <a:endParaRPr lang="en-GB" dirty="0"/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rtl="0"/>
            <a:r>
              <a:rPr lang="en-GB" b="1" dirty="0"/>
              <a:t>Real-time Integration:</a:t>
            </a:r>
            <a:r>
              <a:rPr lang="en-GB" dirty="0"/>
              <a:t> Using Power Automate to trigger analysis immediately upon form submission.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Predictive Analytics:</a:t>
            </a:r>
            <a:r>
              <a:rPr lang="en-GB" dirty="0"/>
              <a:t> Forecasting student satisfaction dips based on early-semester trends.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Scalability:</a:t>
            </a:r>
            <a:r>
              <a:rPr lang="en-GB" dirty="0"/>
              <a:t> Expanding the system to the entire college population (5000+ students).</a:t>
            </a:r>
            <a:endParaRPr lang="en-GB" dirty="0"/>
          </a:p>
          <a:p>
            <a:pPr rtl="0"/>
            <a:r>
              <a:rPr lang="en-GB" dirty="0"/>
              <a:t>​</a:t>
            </a:r>
            <a:r>
              <a:rPr lang="en-GB" b="1" dirty="0"/>
              <a:t>Standardization:</a:t>
            </a:r>
            <a:r>
              <a:rPr lang="en-GB" dirty="0"/>
              <a:t> Developing a standardized AI prompt library for all academic departments.</a:t>
            </a:r>
            <a:endParaRPr lang="en-GB" dirty="0"/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WPS Presentation</Application>
  <PresentationFormat>On-screen Show (16:9)</PresentationFormat>
  <Paragraphs>130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Aileron Bold</vt:lpstr>
      <vt:lpstr>Segoe Print</vt:lpstr>
      <vt:lpstr>Aileron</vt:lpstr>
      <vt:lpstr>Lato</vt:lpstr>
      <vt:lpstr>Calibri</vt:lpstr>
      <vt:lpstr>Calibri</vt:lpstr>
      <vt:lpstr>Times New Roman</vt:lpstr>
      <vt:lpstr>Open Sans</vt:lpstr>
      <vt:lpstr>Calibri</vt:lpstr>
      <vt:lpstr>Calibri</vt:lpstr>
      <vt:lpstr>Aileron Ultra-Bold</vt:lpstr>
      <vt:lpstr>Microsoft YaHei</vt:lpstr>
      <vt:lpstr>Arial Unicode MS</vt:lpstr>
      <vt:lpstr>Office Theme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Mandadi Kavitha</cp:lastModifiedBy>
  <cp:revision>38</cp:revision>
  <dcterms:created xsi:type="dcterms:W3CDTF">2026-02-18T09:17:00Z</dcterms:created>
  <dcterms:modified xsi:type="dcterms:W3CDTF">2026-04-17T09:17:23Z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KSOProductBuildVer">
    <vt:lpwstr>1033-12.1.0.25242</vt:lpwstr>
  </property>
  <property fmtid="{D5CDD505-2E9C-101B-9397-08002B2CF9AE}" pid="5" name="ICV">
    <vt:lpwstr>E3F67C8526264CE186615ED68747F09E_13</vt:lpwstr>
  </property>
</Properties>
</file>